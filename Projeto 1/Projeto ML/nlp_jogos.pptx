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1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94A3B8"/>
                </a:solidFill>
                <a:latin typeface="Arial"/>
              </a:defRPr>
            </a:pPr>
            <a:r>
              <a:rPr sz="1200" b="0" i="0" u="none" strike="noStrike">
                <a:solidFill>
                  <a:srgbClr val="94A3B8"/>
                </a:solidFill>
                <a:latin typeface="Arial"/>
              </a:rPr>
              <a:t>AUC (área sob a curva ROC)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AUC Teste</c:v>
                </c:pt>
              </c:strCache>
            </c:strRef>
          </c:tx>
          <c:spPr>
            <a:solidFill>
              <a:srgbClr val="818CF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818CF8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38BDF8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94A3B8"/>
              </a:solidFill>
              <a:effectLst/>
            </c:spPr>
          </c:dPt>
          <c:cat>
            <c:multiLvlStrRef>
              <c:f>Sheet1!$A$2:$A$4</c:f>
              <c:multiLvlStrCache>
                <c:ptCount val="3"/>
                <c:lvl>
                  <c:pt idx="0">
                    <c:v>Regressão
Logística</c:v>
                  </c:pt>
                  <c:pt idx="1">
                    <c:v>Naive
Bayes</c:v>
                  </c:pt>
                  <c:pt idx="2">
                    <c:v>Random
Forest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0.8548</c:v>
                </c:pt>
                <c:pt idx="1">
                  <c:v>0.8565</c:v>
                </c:pt>
                <c:pt idx="2">
                  <c:v>0.7664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E293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"/>
          <c:min val="0.6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4A3B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1417320"/>
            <a:ext cx="64008" cy="228600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22960" y="141732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NLP para</a:t>
            </a:r>
            <a:endParaRPr lang="en-US" sz="4200" dirty="0"/>
          </a:p>
        </p:txBody>
      </p:sp>
      <p:sp>
        <p:nvSpPr>
          <p:cNvPr id="4" name="Text 2"/>
          <p:cNvSpPr/>
          <p:nvPr/>
        </p:nvSpPr>
        <p:spPr>
          <a:xfrm>
            <a:off x="822960" y="2103120"/>
            <a:ext cx="7315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Notícias de Jogos</a:t>
            </a:r>
            <a:endParaRPr lang="en-US" sz="4200" dirty="0"/>
          </a:p>
        </p:txBody>
      </p:sp>
      <p:sp>
        <p:nvSpPr>
          <p:cNvPr id="5" name="Text 3"/>
          <p:cNvSpPr/>
          <p:nvPr/>
        </p:nvSpPr>
        <p:spPr>
          <a:xfrm>
            <a:off x="822960" y="297180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Stopwords · TF-IDF · Classificação com ML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822960" y="3493008"/>
            <a:ext cx="3200400" cy="27432"/>
          </a:xfrm>
          <a:prstGeom prst="rect">
            <a:avLst/>
          </a:prstGeom>
          <a:solidFill>
            <a:srgbClr val="818CF8"/>
          </a:solidFill>
          <a:ln w="12700">
            <a:solidFill>
              <a:srgbClr val="818CF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37033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Processamento de Linguagem Natural — 2025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457200" y="89611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Quatro etapas, do dado bruto ao modelo treinado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417320"/>
            <a:ext cx="1828800" cy="2560320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7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66928" y="1527048"/>
            <a:ext cx="329184" cy="329184"/>
          </a:xfrm>
          <a:prstGeom prst="ellipse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66928" y="152704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1120140" y="1988820"/>
            <a:ext cx="502920" cy="502920"/>
          </a:xfrm>
          <a:prstGeom prst="ellipse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60958" y="2129638"/>
            <a:ext cx="221285" cy="221285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548640" y="283464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Dados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548640" y="3154680"/>
            <a:ext cx="1645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1249 notícias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sobre jogos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2331720" y="2651760"/>
            <a:ext cx="182880" cy="36576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2377440" y="2496312"/>
            <a:ext cx="182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800" dirty="0"/>
          </a:p>
        </p:txBody>
      </p:sp>
      <p:sp>
        <p:nvSpPr>
          <p:cNvPr id="13" name="Shape 10"/>
          <p:cNvSpPr/>
          <p:nvPr/>
        </p:nvSpPr>
        <p:spPr>
          <a:xfrm>
            <a:off x="2560320" y="1417320"/>
            <a:ext cx="1828800" cy="2560320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7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2670048" y="1527048"/>
            <a:ext cx="329184" cy="329184"/>
          </a:xfrm>
          <a:prstGeom prst="ellipse">
            <a:avLst/>
          </a:prstGeom>
          <a:solidFill>
            <a:srgbClr val="818CF8"/>
          </a:solidFill>
          <a:ln w="12700">
            <a:solidFill>
              <a:srgbClr val="818CF8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2670048" y="152704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3223260" y="1988820"/>
            <a:ext cx="502920" cy="502920"/>
          </a:xfrm>
          <a:prstGeom prst="ellipse">
            <a:avLst/>
          </a:prstGeom>
          <a:solidFill>
            <a:srgbClr val="818CF8"/>
          </a:solidFill>
          <a:ln w="12700">
            <a:solidFill>
              <a:srgbClr val="818CF8"/>
            </a:solidFill>
            <a:prstDash val="solid"/>
          </a:ln>
        </p:spPr>
      </p:sp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64078" y="2129638"/>
            <a:ext cx="221285" cy="221285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2651760" y="283464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Pré-processo</a:t>
            </a:r>
            <a:endParaRPr lang="en-US" sz="1400" dirty="0"/>
          </a:p>
        </p:txBody>
      </p:sp>
      <p:sp>
        <p:nvSpPr>
          <p:cNvPr id="19" name="Text 15"/>
          <p:cNvSpPr/>
          <p:nvPr/>
        </p:nvSpPr>
        <p:spPr>
          <a:xfrm>
            <a:off x="2651760" y="3154680"/>
            <a:ext cx="1645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Limpeza e remoção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stopwords</a:t>
            </a:r>
            <a:endParaRPr lang="en-US" sz="1100" dirty="0"/>
          </a:p>
        </p:txBody>
      </p:sp>
      <p:sp>
        <p:nvSpPr>
          <p:cNvPr id="20" name="Shape 16"/>
          <p:cNvSpPr/>
          <p:nvPr/>
        </p:nvSpPr>
        <p:spPr>
          <a:xfrm>
            <a:off x="4434840" y="2651760"/>
            <a:ext cx="182880" cy="36576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21" name="Text 17"/>
          <p:cNvSpPr/>
          <p:nvPr/>
        </p:nvSpPr>
        <p:spPr>
          <a:xfrm>
            <a:off x="4480560" y="2496312"/>
            <a:ext cx="182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800" dirty="0"/>
          </a:p>
        </p:txBody>
      </p:sp>
      <p:sp>
        <p:nvSpPr>
          <p:cNvPr id="22" name="Shape 18"/>
          <p:cNvSpPr/>
          <p:nvPr/>
        </p:nvSpPr>
        <p:spPr>
          <a:xfrm>
            <a:off x="4663440" y="1417320"/>
            <a:ext cx="1828800" cy="2560320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7000"/>
              </a:srgbClr>
            </a:outerShdw>
          </a:effectLst>
        </p:spPr>
      </p:sp>
      <p:sp>
        <p:nvSpPr>
          <p:cNvPr id="23" name="Shape 19"/>
          <p:cNvSpPr/>
          <p:nvPr/>
        </p:nvSpPr>
        <p:spPr>
          <a:xfrm>
            <a:off x="4773168" y="1527048"/>
            <a:ext cx="329184" cy="329184"/>
          </a:xfrm>
          <a:prstGeom prst="ellipse">
            <a:avLst/>
          </a:prstGeom>
          <a:solidFill>
            <a:srgbClr val="F472B6"/>
          </a:solidFill>
          <a:ln w="12700">
            <a:solidFill>
              <a:srgbClr val="F472B6"/>
            </a:solidFill>
            <a:prstDash val="solid"/>
          </a:ln>
        </p:spPr>
      </p:sp>
      <p:sp>
        <p:nvSpPr>
          <p:cNvPr id="24" name="Text 20"/>
          <p:cNvSpPr/>
          <p:nvPr/>
        </p:nvSpPr>
        <p:spPr>
          <a:xfrm>
            <a:off x="4773168" y="152704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25" name="Shape 21"/>
          <p:cNvSpPr/>
          <p:nvPr/>
        </p:nvSpPr>
        <p:spPr>
          <a:xfrm>
            <a:off x="5326380" y="1988820"/>
            <a:ext cx="502920" cy="502920"/>
          </a:xfrm>
          <a:prstGeom prst="ellipse">
            <a:avLst/>
          </a:prstGeom>
          <a:solidFill>
            <a:srgbClr val="F472B6"/>
          </a:solidFill>
          <a:ln w="12700">
            <a:solidFill>
              <a:srgbClr val="F472B6"/>
            </a:solidFill>
            <a:prstDash val="solid"/>
          </a:ln>
        </p:spPr>
      </p:sp>
      <p:pic>
        <p:nvPicPr>
          <p:cNvPr id="2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67198" y="2129638"/>
            <a:ext cx="221285" cy="221285"/>
          </a:xfrm>
          <a:prstGeom prst="rect">
            <a:avLst/>
          </a:prstGeom>
        </p:spPr>
      </p:pic>
      <p:sp>
        <p:nvSpPr>
          <p:cNvPr id="27" name="Text 22"/>
          <p:cNvSpPr/>
          <p:nvPr/>
        </p:nvSpPr>
        <p:spPr>
          <a:xfrm>
            <a:off x="4754880" y="283464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TF-IDF</a:t>
            </a:r>
            <a:endParaRPr lang="en-US" sz="1400" dirty="0"/>
          </a:p>
        </p:txBody>
      </p:sp>
      <p:sp>
        <p:nvSpPr>
          <p:cNvPr id="28" name="Text 23"/>
          <p:cNvSpPr/>
          <p:nvPr/>
        </p:nvSpPr>
        <p:spPr>
          <a:xfrm>
            <a:off x="4754880" y="3154680"/>
            <a:ext cx="1645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Implementado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zero</a:t>
            </a:r>
            <a:endParaRPr lang="en-US" sz="1100" dirty="0"/>
          </a:p>
        </p:txBody>
      </p:sp>
      <p:sp>
        <p:nvSpPr>
          <p:cNvPr id="29" name="Shape 24"/>
          <p:cNvSpPr/>
          <p:nvPr/>
        </p:nvSpPr>
        <p:spPr>
          <a:xfrm>
            <a:off x="6537960" y="2651760"/>
            <a:ext cx="182880" cy="36576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30" name="Text 25"/>
          <p:cNvSpPr/>
          <p:nvPr/>
        </p:nvSpPr>
        <p:spPr>
          <a:xfrm>
            <a:off x="6583680" y="2496312"/>
            <a:ext cx="182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800" dirty="0"/>
          </a:p>
        </p:txBody>
      </p:sp>
      <p:sp>
        <p:nvSpPr>
          <p:cNvPr id="31" name="Shape 26"/>
          <p:cNvSpPr/>
          <p:nvPr/>
        </p:nvSpPr>
        <p:spPr>
          <a:xfrm>
            <a:off x="6766560" y="1417320"/>
            <a:ext cx="1828800" cy="2560320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7000"/>
              </a:srgbClr>
            </a:outerShdw>
          </a:effectLst>
        </p:spPr>
      </p:sp>
      <p:sp>
        <p:nvSpPr>
          <p:cNvPr id="32" name="Shape 27"/>
          <p:cNvSpPr/>
          <p:nvPr/>
        </p:nvSpPr>
        <p:spPr>
          <a:xfrm>
            <a:off x="6876288" y="1527048"/>
            <a:ext cx="329184" cy="329184"/>
          </a:xfrm>
          <a:prstGeom prst="ellipse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33" name="Text 28"/>
          <p:cNvSpPr/>
          <p:nvPr/>
        </p:nvSpPr>
        <p:spPr>
          <a:xfrm>
            <a:off x="6876288" y="152704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34" name="Shape 29"/>
          <p:cNvSpPr/>
          <p:nvPr/>
        </p:nvSpPr>
        <p:spPr>
          <a:xfrm>
            <a:off x="7429500" y="1988820"/>
            <a:ext cx="502920" cy="502920"/>
          </a:xfrm>
          <a:prstGeom prst="ellipse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pic>
        <p:nvPicPr>
          <p:cNvPr id="3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70318" y="2129638"/>
            <a:ext cx="221285" cy="221285"/>
          </a:xfrm>
          <a:prstGeom prst="rect">
            <a:avLst/>
          </a:prstGeom>
        </p:spPr>
      </p:pic>
      <p:sp>
        <p:nvSpPr>
          <p:cNvPr id="36" name="Text 30"/>
          <p:cNvSpPr/>
          <p:nvPr/>
        </p:nvSpPr>
        <p:spPr>
          <a:xfrm>
            <a:off x="6858000" y="283464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</a:t>
            </a:r>
            <a:endParaRPr lang="en-US" sz="1400" dirty="0"/>
          </a:p>
        </p:txBody>
      </p:sp>
      <p:sp>
        <p:nvSpPr>
          <p:cNvPr id="37" name="Text 31"/>
          <p:cNvSpPr/>
          <p:nvPr/>
        </p:nvSpPr>
        <p:spPr>
          <a:xfrm>
            <a:off x="6858000" y="3154680"/>
            <a:ext cx="1645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modelos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comparados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Dados &amp; Problema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1920240" cy="960120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097280"/>
            <a:ext cx="64008" cy="96012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21792" y="1207008"/>
            <a:ext cx="17190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1.249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621792" y="1691640"/>
            <a:ext cx="17190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notícias sobre jogos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606040" y="1097280"/>
            <a:ext cx="1920240" cy="960120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606040" y="1097280"/>
            <a:ext cx="64008" cy="960120"/>
          </a:xfrm>
          <a:prstGeom prst="rect">
            <a:avLst/>
          </a:prstGeom>
          <a:solidFill>
            <a:srgbClr val="818CF8"/>
          </a:solidFill>
          <a:ln w="12700">
            <a:solidFill>
              <a:srgbClr val="818CF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770632" y="1207008"/>
            <a:ext cx="17190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9.183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2770632" y="1691640"/>
            <a:ext cx="17190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 TF-IDF originais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754880" y="1097280"/>
            <a:ext cx="1920240" cy="960120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754880" y="1097280"/>
            <a:ext cx="64008" cy="960120"/>
          </a:xfrm>
          <a:prstGeom prst="rect">
            <a:avLst/>
          </a:prstGeom>
          <a:solidFill>
            <a:srgbClr val="F472B6"/>
          </a:solidFill>
          <a:ln w="12700">
            <a:solidFill>
              <a:srgbClr val="F472B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919472" y="1207008"/>
            <a:ext cx="17190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1.018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4919472" y="1691640"/>
            <a:ext cx="17190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amostras com rótulo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903720" y="1097280"/>
            <a:ext cx="1920240" cy="960120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903720" y="1097280"/>
            <a:ext cx="64008" cy="960120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068312" y="1207008"/>
            <a:ext cx="17190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62 / 38</a:t>
            </a:r>
            <a:endParaRPr lang="en-US" sz="3000" dirty="0"/>
          </a:p>
        </p:txBody>
      </p:sp>
      <p:sp>
        <p:nvSpPr>
          <p:cNvPr id="18" name="Text 16"/>
          <p:cNvSpPr/>
          <p:nvPr/>
        </p:nvSpPr>
        <p:spPr>
          <a:xfrm>
            <a:off x="7068312" y="1691640"/>
            <a:ext cx="17190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 Multi / Exclusivo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57200" y="2331720"/>
            <a:ext cx="8321040" cy="237744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31520" y="2487168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 Problema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731520" y="2834640"/>
            <a:ext cx="5029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Dado apenas o TÍTULO de uma notícia de jogos,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prever se o jogo é Multiplataforma ou Exclusivo.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6035040" y="2487168"/>
            <a:ext cx="2560320" cy="2011680"/>
          </a:xfrm>
          <a:prstGeom prst="rect">
            <a:avLst/>
          </a:prstGeom>
          <a:solidFill>
            <a:srgbClr val="1E3A5F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126480" y="2578608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 Anti-leakage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126480" y="2907792"/>
            <a:ext cx="2377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Termos de plataforma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(PC, Xbox, PS5…)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foram bloqueados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 features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Pré-processamento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2560320" cy="2011680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7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1499616" y="1389888"/>
            <a:ext cx="475488" cy="475488"/>
          </a:xfrm>
          <a:prstGeom prst="ellipse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32753" y="1523025"/>
            <a:ext cx="209215" cy="209215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1975104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Limpeza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548640" y="2304288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Lower-case, remoção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pontuação 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caracteres especiais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3291840" y="1188720"/>
            <a:ext cx="2560320" cy="2011680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7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4334256" y="1389888"/>
            <a:ext cx="475488" cy="475488"/>
          </a:xfrm>
          <a:prstGeom prst="ellipse">
            <a:avLst/>
          </a:prstGeom>
          <a:solidFill>
            <a:srgbClr val="818CF8"/>
          </a:solidFill>
          <a:ln w="12700">
            <a:solidFill>
              <a:srgbClr val="818CF8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67393" y="1523025"/>
            <a:ext cx="209215" cy="209215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3383280" y="1975104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Stopwords</a:t>
            </a:r>
            <a:endParaRPr lang="en-US" sz="1400" dirty="0"/>
          </a:p>
        </p:txBody>
      </p:sp>
      <p:sp>
        <p:nvSpPr>
          <p:cNvPr id="12" name="Text 8"/>
          <p:cNvSpPr/>
          <p:nvPr/>
        </p:nvSpPr>
        <p:spPr>
          <a:xfrm>
            <a:off x="3383280" y="2304288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NLTK português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inglês combinados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(~350 palavras)</a:t>
            </a:r>
            <a:endParaRPr lang="en-US" sz="1100" dirty="0"/>
          </a:p>
        </p:txBody>
      </p:sp>
      <p:sp>
        <p:nvSpPr>
          <p:cNvPr id="13" name="Shape 9"/>
          <p:cNvSpPr/>
          <p:nvPr/>
        </p:nvSpPr>
        <p:spPr>
          <a:xfrm>
            <a:off x="6126480" y="1188720"/>
            <a:ext cx="2560320" cy="2011680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7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7168896" y="1389888"/>
            <a:ext cx="475488" cy="475488"/>
          </a:xfrm>
          <a:prstGeom prst="ellipse">
            <a:avLst/>
          </a:prstGeom>
          <a:solidFill>
            <a:srgbClr val="F472B6"/>
          </a:solidFill>
          <a:ln w="12700">
            <a:solidFill>
              <a:srgbClr val="F472B6"/>
            </a:solidFill>
            <a:prstDash val="solid"/>
          </a:ln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02033" y="1523025"/>
            <a:ext cx="209215" cy="209215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6217920" y="1975104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Anti-leakage</a:t>
            </a:r>
            <a:endParaRPr lang="en-US" sz="1400" dirty="0"/>
          </a:p>
        </p:txBody>
      </p:sp>
      <p:sp>
        <p:nvSpPr>
          <p:cNvPr id="17" name="Text 12"/>
          <p:cNvSpPr/>
          <p:nvPr/>
        </p:nvSpPr>
        <p:spPr>
          <a:xfrm>
            <a:off x="6217920" y="2304288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Bloqueio de nomes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plataformas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(PC, Xbox, PS5…)</a:t>
            </a:r>
            <a:endParaRPr lang="en-US" sz="1100" dirty="0"/>
          </a:p>
        </p:txBody>
      </p:sp>
      <p:sp>
        <p:nvSpPr>
          <p:cNvPr id="18" name="Shape 13"/>
          <p:cNvSpPr/>
          <p:nvPr/>
        </p:nvSpPr>
        <p:spPr>
          <a:xfrm>
            <a:off x="457200" y="3429000"/>
            <a:ext cx="8321040" cy="132588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19" name="Text 14"/>
          <p:cNvSpPr/>
          <p:nvPr/>
        </p:nvSpPr>
        <p:spPr>
          <a:xfrm>
            <a:off x="685800" y="3547872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Antes:</a:t>
            </a:r>
            <a:endParaRPr lang="en-US" sz="1100" dirty="0"/>
          </a:p>
        </p:txBody>
      </p:sp>
      <p:sp>
        <p:nvSpPr>
          <p:cNvPr id="20" name="Text 15"/>
          <p:cNvSpPr/>
          <p:nvPr/>
        </p:nvSpPr>
        <p:spPr>
          <a:xfrm>
            <a:off x="1691640" y="3547872"/>
            <a:ext cx="6858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"Pokémon FireRed &amp; LeafGreen inclui conteúdo ausente da versão original"</a:t>
            </a:r>
            <a:endParaRPr lang="en-US" sz="1100" dirty="0"/>
          </a:p>
        </p:txBody>
      </p:sp>
      <p:sp>
        <p:nvSpPr>
          <p:cNvPr id="21" name="Text 16"/>
          <p:cNvSpPr/>
          <p:nvPr/>
        </p:nvSpPr>
        <p:spPr>
          <a:xfrm>
            <a:off x="685800" y="3913632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Depois:</a:t>
            </a:r>
            <a:endParaRPr lang="en-US" sz="1100" dirty="0"/>
          </a:p>
        </p:txBody>
      </p:sp>
      <p:sp>
        <p:nvSpPr>
          <p:cNvPr id="22" name="Text 17"/>
          <p:cNvSpPr/>
          <p:nvPr/>
        </p:nvSpPr>
        <p:spPr>
          <a:xfrm>
            <a:off x="1691640" y="3913632"/>
            <a:ext cx="6858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['pokémon', 'firered', 'leafgreen', 'inclui', 'conteúdo', 'ausente', 'versão', 'original']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TF-IDF implementado do zero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234440"/>
            <a:ext cx="3840480" cy="868680"/>
          </a:xfrm>
          <a:prstGeom prst="rect">
            <a:avLst/>
          </a:prstGeom>
          <a:solidFill>
            <a:srgbClr val="1E293B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1307592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TF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94360" y="1618488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freq(t, d) / |d|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2313432"/>
            <a:ext cx="3840480" cy="868680"/>
          </a:xfrm>
          <a:prstGeom prst="rect">
            <a:avLst/>
          </a:prstGeom>
          <a:solidFill>
            <a:srgbClr val="1E293B"/>
          </a:solidFill>
          <a:ln w="12700">
            <a:solidFill>
              <a:srgbClr val="818CF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2386584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18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IDF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94360" y="269748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log( N / (df(t)+1) ) + 1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57200" y="3392424"/>
            <a:ext cx="3840480" cy="868680"/>
          </a:xfrm>
          <a:prstGeom prst="rect">
            <a:avLst/>
          </a:prstGeom>
          <a:solidFill>
            <a:srgbClr val="1E293B"/>
          </a:solidFill>
          <a:ln w="12700">
            <a:solidFill>
              <a:srgbClr val="F472B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94360" y="3465576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472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94360" y="3776472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TF × IDF  →  normalização L2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572000" y="1234440"/>
            <a:ext cx="4206240" cy="347472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54880" y="137160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Saída da matriz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754880" y="178308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Documentos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675120" y="178308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1.018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754880" y="237744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Vocabulário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675120" y="237744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2.344 termos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754880" y="297180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Dimensão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675120" y="297180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1018 × 2344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754880" y="35661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Normalização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675120" y="356616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L2 por linha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Comparação de Modelos</a:t>
            </a:r>
            <a:endParaRPr lang="en-US" sz="34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365760" y="960120"/>
          <a:ext cx="4937760" cy="35661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394960" y="960120"/>
          <a:ext cx="3383280" cy="1920240"/>
        </p:xfrm>
        <a:graphic>
          <a:graphicData uri="http://schemas.openxmlformats.org/drawingml/2006/table">
            <a:tbl>
              <a:tblPr/>
              <a:tblGrid>
                <a:gridCol w="1554480"/>
                <a:gridCol w="594360"/>
                <a:gridCol w="685800"/>
                <a:gridCol w="548640"/>
              </a:tblGrid>
              <a:tr h="4800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AUC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F1 macro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Accuracy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</a:tr>
              <a:tr h="4800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Reg. Logística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0.855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0.643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72.1%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800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Naive Bayes ✓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AF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0.857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AF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0.756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AF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77.9%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AFE"/>
                    </a:solidFill>
                  </a:tcPr>
                </a:tc>
              </a:tr>
              <a:tr h="4800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Random Forest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0.766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0.679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74.0%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Shape 1"/>
          <p:cNvSpPr/>
          <p:nvPr/>
        </p:nvSpPr>
        <p:spPr>
          <a:xfrm>
            <a:off x="5394960" y="3063240"/>
            <a:ext cx="3383280" cy="1463040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6" name="Shape 2"/>
          <p:cNvSpPr/>
          <p:nvPr/>
        </p:nvSpPr>
        <p:spPr>
          <a:xfrm>
            <a:off x="5394960" y="3063240"/>
            <a:ext cx="64008" cy="146304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7" name="Text 3"/>
          <p:cNvSpPr/>
          <p:nvPr/>
        </p:nvSpPr>
        <p:spPr>
          <a:xfrm>
            <a:off x="5577840" y="315468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 CV 5-fold — Naive Bayes</a:t>
            </a:r>
            <a:endParaRPr lang="en-US" sz="1100" dirty="0"/>
          </a:p>
        </p:txBody>
      </p:sp>
      <p:sp>
        <p:nvSpPr>
          <p:cNvPr id="8" name="Text 4"/>
          <p:cNvSpPr/>
          <p:nvPr/>
        </p:nvSpPr>
        <p:spPr>
          <a:xfrm>
            <a:off x="5577840" y="3456432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0.822  →  sem overfitting relevante</a:t>
            </a:r>
            <a:endParaRPr lang="en-US" sz="1200" dirty="0"/>
          </a:p>
        </p:txBody>
      </p:sp>
      <p:sp>
        <p:nvSpPr>
          <p:cNvPr id="9" name="Text 5"/>
          <p:cNvSpPr/>
          <p:nvPr/>
        </p:nvSpPr>
        <p:spPr>
          <a:xfrm>
            <a:off x="5577840" y="3767328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Treino e generalização estão alinhados.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que Naive Bayes ganhou?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8321040" cy="1097280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5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457200" y="1188720"/>
            <a:ext cx="64008" cy="109728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50392" y="1508760"/>
            <a:ext cx="457200" cy="457200"/>
          </a:xfrm>
          <a:prstGeom prst="ellipse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8408" y="1636776"/>
            <a:ext cx="201168" cy="20116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54480" y="1298448"/>
            <a:ext cx="6949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 esparsas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1554480" y="1645920"/>
            <a:ext cx="6949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TF-IDF de títulos curtos gera matrizes esparsas. NB lida melhor com sparsity do que Random Forest.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457200" y="2423160"/>
            <a:ext cx="8321040" cy="1097280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5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57200" y="2423160"/>
            <a:ext cx="64008" cy="1097280"/>
          </a:xfrm>
          <a:prstGeom prst="rect">
            <a:avLst/>
          </a:prstGeom>
          <a:solidFill>
            <a:srgbClr val="818CF8"/>
          </a:solidFill>
          <a:ln w="12700">
            <a:solidFill>
              <a:srgbClr val="818CF8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850392" y="2743200"/>
            <a:ext cx="457200" cy="457200"/>
          </a:xfrm>
          <a:prstGeom prst="ellipse">
            <a:avLst/>
          </a:prstGeom>
          <a:solidFill>
            <a:srgbClr val="818CF8"/>
          </a:solidFill>
          <a:ln w="12700">
            <a:solidFill>
              <a:srgbClr val="818CF8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8408" y="2871216"/>
            <a:ext cx="201168" cy="20116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554480" y="2532888"/>
            <a:ext cx="6949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Independência condicional</a:t>
            </a:r>
            <a:endParaRPr lang="en-US" sz="1400" dirty="0"/>
          </a:p>
        </p:txBody>
      </p:sp>
      <p:sp>
        <p:nvSpPr>
          <p:cNvPr id="14" name="Text 10"/>
          <p:cNvSpPr/>
          <p:nvPr/>
        </p:nvSpPr>
        <p:spPr>
          <a:xfrm>
            <a:off x="1554480" y="2880360"/>
            <a:ext cx="6949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 textos curtos, a suposição de independência é menos violada — tornando-se vantagem, não limitação.</a:t>
            </a:r>
            <a:endParaRPr lang="en-US" sz="1200" dirty="0"/>
          </a:p>
        </p:txBody>
      </p:sp>
      <p:sp>
        <p:nvSpPr>
          <p:cNvPr id="15" name="Shape 11"/>
          <p:cNvSpPr/>
          <p:nvPr/>
        </p:nvSpPr>
        <p:spPr>
          <a:xfrm>
            <a:off x="457200" y="3657600"/>
            <a:ext cx="8321040" cy="1097280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5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457200" y="3657600"/>
            <a:ext cx="64008" cy="1097280"/>
          </a:xfrm>
          <a:prstGeom prst="rect">
            <a:avLst/>
          </a:prstGeom>
          <a:solidFill>
            <a:srgbClr val="F472B6"/>
          </a:solidFill>
          <a:ln w="12700">
            <a:solidFill>
              <a:srgbClr val="F472B6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850392" y="3977640"/>
            <a:ext cx="457200" cy="457200"/>
          </a:xfrm>
          <a:prstGeom prst="ellipse">
            <a:avLst/>
          </a:prstGeom>
          <a:solidFill>
            <a:srgbClr val="F472B6"/>
          </a:solidFill>
          <a:ln w="12700">
            <a:solidFill>
              <a:srgbClr val="F472B6"/>
            </a:solidFill>
            <a:prstDash val="solid"/>
          </a:ln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8408" y="4105656"/>
            <a:ext cx="201168" cy="201168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1554480" y="3767328"/>
            <a:ext cx="6949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Menos parâmetros</a:t>
            </a:r>
            <a:endParaRPr lang="en-US" sz="1400" dirty="0"/>
          </a:p>
        </p:txBody>
      </p:sp>
      <p:sp>
        <p:nvSpPr>
          <p:cNvPr id="20" name="Text 15"/>
          <p:cNvSpPr/>
          <p:nvPr/>
        </p:nvSpPr>
        <p:spPr>
          <a:xfrm>
            <a:off x="1554480" y="4114800"/>
            <a:ext cx="6949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 ~1k amostras, modelos mais simples generalizam melhor. RF com 200 árvores tende a overfittar.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4747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Conclusões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457200" y="1298448"/>
            <a:ext cx="475488" cy="475488"/>
          </a:xfrm>
          <a:prstGeom prst="ellipse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29844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1097280" y="1280160"/>
            <a:ext cx="74980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TF-IDF do zero captura sinal suficiente em títulos curtos para classificação binária.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2212848"/>
            <a:ext cx="475488" cy="475488"/>
          </a:xfrm>
          <a:prstGeom prst="ellipse">
            <a:avLst/>
          </a:prstGeom>
          <a:solidFill>
            <a:srgbClr val="818CF8"/>
          </a:solidFill>
          <a:ln w="12700">
            <a:solidFill>
              <a:srgbClr val="818CF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221284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97280" y="2194560"/>
            <a:ext cx="74980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 ~0.86 com Naive Bayes — bom desempenho sem tunagem de hiperparâmetros.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57200" y="3127248"/>
            <a:ext cx="475488" cy="475488"/>
          </a:xfrm>
          <a:prstGeom prst="ellipse">
            <a:avLst/>
          </a:prstGeom>
          <a:solidFill>
            <a:srgbClr val="F472B6"/>
          </a:solidFill>
          <a:ln w="12700">
            <a:solidFill>
              <a:srgbClr val="F472B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312724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097280" y="3108960"/>
            <a:ext cx="74980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Bloqueio de leakage é essencial: termos de plataforma no título resolveriam o problema trivialmente.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7200" y="4041648"/>
            <a:ext cx="475488" cy="475488"/>
          </a:xfrm>
          <a:prstGeom prst="ellipse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404164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097280" y="4023360"/>
            <a:ext cx="74980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Modelos simples batem modelos complexos quando dados são escassos e features esparsas.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NLP para Notícias de Jogos</dc:title>
  <dc:subject>PptxGenJS Presentation</dc:subject>
  <dc:creator>PptxGenJS</dc:creator>
  <cp:lastModifiedBy>PptxGenJS</cp:lastModifiedBy>
  <cp:revision>1</cp:revision>
  <dcterms:created xsi:type="dcterms:W3CDTF">2026-05-25T22:48:28Z</dcterms:created>
  <dcterms:modified xsi:type="dcterms:W3CDTF">2026-05-25T22:48:28Z</dcterms:modified>
</cp:coreProperties>
</file>